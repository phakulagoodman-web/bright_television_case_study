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B5E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E1F1A"/>
                    </a:solidFill>
                    <a:latin typeface="Manrope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Unspecified</c:v>
                </c:pt>
                <c:pt idx="9">
                  <c:v>Northern Cape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3500</c:v>
                </c:pt>
                <c:pt idx="1">
                  <c:v>1800</c:v>
                </c:pt>
                <c:pt idx="2">
                  <c:v>1200</c:v>
                </c:pt>
                <c:pt idx="3">
                  <c:v>1000</c:v>
                </c:pt>
                <c:pt idx="4">
                  <c:v>700</c:v>
                </c:pt>
                <c:pt idx="5">
                  <c:v>650</c:v>
                </c:pt>
                <c:pt idx="6">
                  <c:v>400</c:v>
                </c:pt>
                <c:pt idx="7">
                  <c:v>350</c:v>
                </c:pt>
                <c:pt idx="8">
                  <c:v>350</c:v>
                </c:pt>
                <c:pt idx="9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EE-4323-8C54-B4390A6987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E1F1A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EEEE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6"/>
                </a:solidFill>
                <a:latin typeface="Manro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5E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B69-40D6-87F5-29429D4298CA}"/>
              </c:ext>
            </c:extLst>
          </c:dPt>
          <c:dPt>
            <c:idx val="1"/>
            <c:bubble3D val="0"/>
            <c:spPr>
              <a:solidFill>
                <a:srgbClr val="0843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B69-40D6-87F5-29429D4298CA}"/>
              </c:ext>
            </c:extLst>
          </c:dPt>
          <c:dPt>
            <c:idx val="2"/>
            <c:bubble3D val="0"/>
            <c:spPr>
              <a:solidFill>
                <a:srgbClr val="C9A2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B69-40D6-87F5-29429D4298CA}"/>
              </c:ext>
            </c:extLst>
          </c:dPt>
          <c:dPt>
            <c:idx val="3"/>
            <c:bubble3D val="0"/>
            <c:spPr>
              <a:solidFill>
                <a:srgbClr val="E8D6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B69-40D6-87F5-29429D4298CA}"/>
              </c:ext>
            </c:extLst>
          </c:dPt>
          <c:dPt>
            <c:idx val="4"/>
            <c:bubble3D val="0"/>
            <c:spPr>
              <a:solidFill>
                <a:srgbClr val="1E7A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B69-40D6-87F5-29429D4298CA}"/>
              </c:ext>
            </c:extLst>
          </c:dPt>
          <c:dPt>
            <c:idx val="5"/>
            <c:bubble3D val="0"/>
            <c:spPr>
              <a:solidFill>
                <a:srgbClr val="8A6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B69-40D6-87F5-29429D4298CA}"/>
              </c:ext>
            </c:extLst>
          </c:dPt>
          <c:dPt>
            <c:idx val="6"/>
            <c:bubble3D val="0"/>
            <c:spPr>
              <a:solidFill>
                <a:srgbClr val="5C8F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B69-40D6-87F5-29429D4298CA}"/>
              </c:ext>
            </c:extLst>
          </c:dPt>
          <c:dPt>
            <c:idx val="7"/>
            <c:bubble3D val="0"/>
            <c:spPr>
              <a:solidFill>
                <a:srgbClr val="B89A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B69-40D6-87F5-29429D4298CA}"/>
              </c:ext>
            </c:extLst>
          </c:dPt>
          <c:dPt>
            <c:idx val="8"/>
            <c:bubble3D val="0"/>
            <c:spPr>
              <a:solidFill>
                <a:srgbClr val="3E6B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B69-40D6-87F5-29429D4298CA}"/>
              </c:ext>
            </c:extLst>
          </c:dPt>
          <c:dPt>
            <c:idx val="9"/>
            <c:bubble3D val="0"/>
            <c:spPr>
              <a:solidFill>
                <a:srgbClr val="D9C4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B69-40D6-87F5-29429D4298CA}"/>
              </c:ext>
            </c:extLst>
          </c:dPt>
          <c:cat>
            <c:strRef>
              <c:f>Sheet1!$A$2:$A$11</c:f>
              <c:strCache>
                <c:ptCount val="10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Unspecified</c:v>
                </c:pt>
                <c:pt idx="9">
                  <c:v>Northern Cape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35.700000000000003</c:v>
                </c:pt>
                <c:pt idx="1">
                  <c:v>18.100000000000001</c:v>
                </c:pt>
                <c:pt idx="2">
                  <c:v>11.5</c:v>
                </c:pt>
                <c:pt idx="3">
                  <c:v>9.1999999999999993</c:v>
                </c:pt>
                <c:pt idx="4">
                  <c:v>7.1</c:v>
                </c:pt>
                <c:pt idx="5">
                  <c:v>6.8</c:v>
                </c:pt>
                <c:pt idx="6">
                  <c:v>3.4</c:v>
                </c:pt>
                <c:pt idx="7">
                  <c:v>2.9</c:v>
                </c:pt>
                <c:pt idx="8">
                  <c:v>2.9</c:v>
                </c:pt>
                <c:pt idx="9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4B69-40D6-87F5-29429D429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0E1F1A"/>
              </a:solidFill>
              <a:latin typeface="Manrope"/>
              <a:cs typeface="Manrope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B5E4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3200</c:v>
                </c:pt>
                <c:pt idx="1">
                  <c:v>1600</c:v>
                </c:pt>
                <c:pt idx="2">
                  <c:v>1000</c:v>
                </c:pt>
                <c:pt idx="3">
                  <c:v>800</c:v>
                </c:pt>
                <c:pt idx="4">
                  <c:v>600</c:v>
                </c:pt>
                <c:pt idx="5">
                  <c:v>500</c:v>
                </c:pt>
                <c:pt idx="6">
                  <c:v>300</c:v>
                </c:pt>
                <c:pt idx="7">
                  <c:v>200</c:v>
                </c:pt>
                <c:pt idx="8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CF-4CA8-8A66-4D3635969A5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C9A24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Gauteng</c:v>
                </c:pt>
                <c:pt idx="1">
                  <c:v>Western Cape</c:v>
                </c:pt>
                <c:pt idx="2">
                  <c:v>Kwazulu Natal</c:v>
                </c:pt>
                <c:pt idx="3">
                  <c:v>Mpumalanga</c:v>
                </c:pt>
                <c:pt idx="4">
                  <c:v>Limpopo</c:v>
                </c:pt>
                <c:pt idx="5">
                  <c:v>Eastern Cape</c:v>
                </c:pt>
                <c:pt idx="6">
                  <c:v>North West</c:v>
                </c:pt>
                <c:pt idx="7">
                  <c:v>Free State</c:v>
                </c:pt>
                <c:pt idx="8">
                  <c:v>Northern Cape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300</c:v>
                </c:pt>
                <c:pt idx="1">
                  <c:v>200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9CF-4CA8-8A66-4D3635969A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E1F1A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DDDD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B76"/>
                </a:solidFill>
                <a:latin typeface="Manrop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E1F1A"/>
              </a:solidFill>
              <a:latin typeface="Manrope"/>
              <a:cs typeface="Manrope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936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10515600" y="5303520"/>
            <a:ext cx="1280160" cy="1280160"/>
          </a:xfrm>
          <a:prstGeom prst="rect">
            <a:avLst/>
          </a:prstGeom>
          <a:solidFill>
            <a:srgbClr val="0B5E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10835640" y="5623560"/>
            <a:ext cx="1280160" cy="1280160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058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0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Bright</a:t>
            </a:r>
            <a:endParaRPr lang="en-US" sz="80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80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Television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731520" cy="36576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CF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Who is watching, where they live, and what they choose to tune into.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Presentation by Goodman Phakula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The audience at a glance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36576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73152" cy="1920240"/>
          </a:xfrm>
          <a:prstGeom prst="rect">
            <a:avLst/>
          </a:prstGeom>
          <a:solidFill>
            <a:srgbClr val="0B5E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68680" y="20574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5E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10,050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F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Viewer records analyzed across the country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73152" cy="1920240"/>
          </a:xfrm>
          <a:prstGeom prst="rect">
            <a:avLst/>
          </a:prstGeom>
          <a:solidFill>
            <a:srgbClr val="0B5E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6537960" y="205740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5E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35.7%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537960" y="3063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F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Concentration in Gauteng — the dominant market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73152" cy="1920240"/>
          </a:xfrm>
          <a:prstGeom prst="rect">
            <a:avLst/>
          </a:prstGeom>
          <a:solidFill>
            <a:srgbClr val="0B5E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868680" y="42519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5E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87.3%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6868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F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 share of the measured audience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402336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6217920" y="4023360"/>
            <a:ext cx="73152" cy="1920240"/>
          </a:xfrm>
          <a:prstGeom prst="rect">
            <a:avLst/>
          </a:prstGeom>
          <a:solidFill>
            <a:srgbClr val="0B5E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6537960" y="425196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B5E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Sport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537960" y="5257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E1F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Drives the top two channels by viewership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Bright Television · Audience Insights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GEOGRAPHY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Where the viewers 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36576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Record count by province — Gauteng dominates with more than a third of the entire sample.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94560"/>
          <a:ext cx="77724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686800" y="2194560"/>
            <a:ext cx="2926080" cy="3840480"/>
          </a:xfrm>
          <a:prstGeom prst="rect">
            <a:avLst/>
          </a:prstGeom>
          <a:solidFill>
            <a:srgbClr val="0A2E2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886968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9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869680" y="269748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provinces = 65%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869680" y="3657600"/>
            <a:ext cx="2651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CFC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Gauteng, Western Cape and KwaZulu-Natal together account for roughly 65% of all viewer records — concentrate marketing spend here first.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Bright Television · Audience Insights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MARKET SHARE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Provincial share of audience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36576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011680"/>
          <a:ext cx="59436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8686800" y="2103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C9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 5 PROVINCES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326880" y="2514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F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Gauteng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32688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3,500 · 35.7%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32688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F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Western Cape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32688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1,800 · 18.1%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326880" y="3886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F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Kwazulu Natal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326880" y="4160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1,200 · 11.5%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326880" y="4572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F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Mpumalanga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326880" y="4846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1,000 · 9.2%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686800" y="5212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32688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1F1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Limpopo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326880" y="5532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700 · 7.1%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Bright Television · Audience Insights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 heavily male audience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36576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Gender breakdown of all viewer records.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9659082" cy="1097280"/>
          </a:xfrm>
          <a:prstGeom prst="rect">
            <a:avLst/>
          </a:prstGeom>
          <a:solidFill>
            <a:srgbClr val="0B5E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965908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87.3%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0207722" y="2377440"/>
            <a:ext cx="1073231" cy="1097280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10207722" y="2697480"/>
            <a:ext cx="107323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9.7%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280953" y="2377440"/>
            <a:ext cx="320863" cy="1097280"/>
          </a:xfrm>
          <a:prstGeom prst="rect">
            <a:avLst/>
          </a:prstGeom>
          <a:solidFill>
            <a:srgbClr val="E8D6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11601816" y="2377440"/>
            <a:ext cx="22128" cy="1097280"/>
          </a:xfrm>
          <a:prstGeom prst="rect">
            <a:avLst/>
          </a:prstGeom>
          <a:solidFill>
            <a:srgbClr val="8A6F2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2697480" cy="73152"/>
          </a:xfrm>
          <a:prstGeom prst="rect">
            <a:avLst/>
          </a:prstGeom>
          <a:solidFill>
            <a:srgbClr val="0B5E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731520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526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87.3%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3410712" y="402336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410712" y="4023360"/>
            <a:ext cx="2697480" cy="73152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593592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Female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93592" y="4526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9.7%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272784" y="402336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6272784" y="4023360"/>
            <a:ext cx="2697480" cy="73152"/>
          </a:xfrm>
          <a:prstGeom prst="rect">
            <a:avLst/>
          </a:prstGeom>
          <a:solidFill>
            <a:srgbClr val="E8D6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6455664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Unspecified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4526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2.9%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9134856" y="402336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9134856" y="4023360"/>
            <a:ext cx="2697480" cy="73152"/>
          </a:xfrm>
          <a:prstGeom prst="rect">
            <a:avLst/>
          </a:prstGeom>
          <a:solidFill>
            <a:srgbClr val="8A6F2D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9317736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Other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17736" y="45262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0.2%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Bright Television · Audience Insights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CROSSTAB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Gender split holds across regions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36576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 and female counts side-by-side, per province.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2194560"/>
          <a:ext cx="1106424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Bright Television · Audience Insights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E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Top 10 channels by viewership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36576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1A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Sport and music dominate; Supersport and ICC Cricket together pull more than 3,000 records.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Supersport Live Events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2340864"/>
            <a:ext cx="7315200" cy="237744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11612880" y="2286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1,638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700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6700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ICC Cricket World Cup 2011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2724912"/>
            <a:ext cx="6542593" cy="237744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10840273" y="2670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1,465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05409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0540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Channel 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06240" y="3108960"/>
            <a:ext cx="4689231" cy="237744"/>
          </a:xfrm>
          <a:prstGeom prst="rect">
            <a:avLst/>
          </a:prstGeom>
          <a:solidFill>
            <a:srgbClr val="E8D6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8986911" y="30540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1,050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43814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4381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Trace TV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06240" y="3493008"/>
            <a:ext cx="4251569" cy="237744"/>
          </a:xfrm>
          <a:prstGeom prst="rect">
            <a:avLst/>
          </a:prstGeom>
          <a:solidFill>
            <a:srgbClr val="E8D6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8549249" y="343814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952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82219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82219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SuperSport Blitz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06240" y="3877056"/>
            <a:ext cx="4001477" cy="237744"/>
          </a:xfrm>
          <a:prstGeom prst="rect">
            <a:avLst/>
          </a:prstGeom>
          <a:solidFill>
            <a:srgbClr val="E8D69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8299157" y="382219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896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4206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Africa Magic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06240" y="4261104"/>
            <a:ext cx="3836237" cy="237744"/>
          </a:xfrm>
          <a:prstGeom prst="rect">
            <a:avLst/>
          </a:prstGeom>
          <a:solidFill>
            <a:srgbClr val="5C8F7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8133917" y="4206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859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59028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4590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Cartoon Network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06240" y="4645152"/>
            <a:ext cx="3541486" cy="237744"/>
          </a:xfrm>
          <a:prstGeom prst="rect">
            <a:avLst/>
          </a:prstGeom>
          <a:solidFill>
            <a:srgbClr val="5C8F7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7839166" y="459028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793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97433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97433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Boomerang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06240" y="5029200"/>
            <a:ext cx="3188677" cy="237744"/>
          </a:xfrm>
          <a:prstGeom prst="rect">
            <a:avLst/>
          </a:prstGeom>
          <a:solidFill>
            <a:srgbClr val="5C8F7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7486357" y="497433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714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53583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5840" y="535838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CNN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06240" y="5413248"/>
            <a:ext cx="2255297" cy="237744"/>
          </a:xfrm>
          <a:prstGeom prst="rect">
            <a:avLst/>
          </a:prstGeom>
          <a:solidFill>
            <a:srgbClr val="5C8F7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6552977" y="53583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505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574243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" y="574243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F3E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E! Entertainment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06240" y="5797296"/>
            <a:ext cx="1638998" cy="237744"/>
          </a:xfrm>
          <a:prstGeom prst="rect">
            <a:avLst/>
          </a:prstGeom>
          <a:solidFill>
            <a:srgbClr val="5C8F7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5936678" y="57424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F3E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367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Bright Television · Audience Insights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C9A24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TO DO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Three priorities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0080" cy="36576"/>
          </a:xfrm>
          <a:prstGeom prst="rect">
            <a:avLst/>
          </a:prstGeom>
          <a:solidFill>
            <a:srgbClr val="C9A2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73152"/>
          </a:xfrm>
          <a:prstGeom prst="rect">
            <a:avLst/>
          </a:prstGeom>
          <a:solidFill>
            <a:srgbClr val="0B5E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Anchor in Gauteng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 35.7% of the audience, Gauteng deserves dedicated regional sponsorships and prime-time scheduling.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611880" cy="73152"/>
          </a:xfrm>
          <a:prstGeom prst="rect">
            <a:avLst/>
          </a:prstGeom>
          <a:solidFill>
            <a:srgbClr val="0B5E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6060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Broaden gender reach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39319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9.7% female share is an opportunity. Test counter-programming and acquisition campaigns aimed at women 18–34.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DFD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611880" cy="73152"/>
          </a:xfrm>
          <a:prstGeom prst="rect">
            <a:avLst/>
          </a:prstGeom>
          <a:solidFill>
            <a:srgbClr val="0B5E4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841248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9A24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60604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E1F1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Lean into sport &amp; music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412480" y="3931920"/>
            <a:ext cx="3108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Supersport, ICC Cricket and Channel O drive the top of the funnel. Bundle ad inventory across these to lift CPMs.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Bright Television · Audience Insights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B7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404</Words>
  <Application>Microsoft Office PowerPoint</Application>
  <PresentationFormat>Widescreen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Manrope</vt:lpstr>
      <vt:lpstr>Sora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Goodman Phakula</cp:lastModifiedBy>
  <cp:revision>2</cp:revision>
  <dcterms:created xsi:type="dcterms:W3CDTF">2026-04-20T17:58:45Z</dcterms:created>
  <dcterms:modified xsi:type="dcterms:W3CDTF">2026-04-20T18:12:59Z</dcterms:modified>
</cp:coreProperties>
</file>